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3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AAAA"/>
                </a:solidFill>
              </a:rPr>
              <a:t>SESSION REPORT  ·  2026-06-07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</a:rPr>
              <a:t>Kria KV260 Bring-up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391D"/>
                </a:solidFill>
              </a:rPr>
              <a:t>&amp; CNN Inference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AAAAA"/>
                </a:solidFill>
              </a:rPr>
              <a:t>End-to-end setup of the Xilinx AMD Kria KV260 Vision AI Starter Kit —
from zero network access to running MobileNetV2 inference on-board.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114800"/>
            <a:ext cx="173736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4114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CAF50"/>
                </a:solidFill>
              </a:rPr>
              <a:t>SSH Connected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0279" y="4114800"/>
            <a:ext cx="173736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5999" y="4114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CAF50"/>
                </a:solidFill>
              </a:rPr>
              <a:t>CNN Running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4114800"/>
            <a:ext cx="173736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4114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C107"/>
                </a:solidFill>
              </a:rPr>
              <a:t>DPU — Next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4114800"/>
            <a:ext cx="173736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4114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196F3"/>
                </a:solidFill>
              </a:rPr>
              <a:t>YOLO — Planned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hemn  ·  AMD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64008" cy="548640"/>
          </a:xfrm>
          <a:prstGeom prst="rect">
            <a:avLst/>
          </a:prstGeom>
          <a:solidFill>
            <a:srgbClr val="E83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Board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5394960" cy="5120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391D"/>
                </a:solidFill>
              </a:rPr>
              <a:t>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</a:rPr>
              <a:t>  ▸  Kria KV260 Vision AI Starter Kit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</a:rPr>
              <a:t>  ▸  SoC: Zynq UltraScale+ MPSoC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</a:rPr>
              <a:t>  ▸  CPU: Quad-core ARM Cortex-A53 @ 1.3GHz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</a:rPr>
              <a:t>  ▸  FPGA: PL fabric + AI Engine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</a:rPr>
              <a:t>  ▸  RAM: 4 GB LPDDR4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</a:rPr>
              <a:t>  ▸  Storage: 29 GB eMMC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394960" cy="5120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391D"/>
                </a:solidFill>
              </a:rPr>
              <a:t>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</a:rPr>
              <a:t>  ▸  Ubuntu 24.04.4 LTS (Noble Numbat)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</a:rPr>
              <a:t>  ▸  Kernel: 6.8.0-1024-xilinx (aarch64)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</a:rPr>
              <a:t>  ▸  Python 3.12.3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</a:rPr>
              <a:t>  ▸  xmutil + dfx-mgr (overlay mgmt)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</a:rPr>
              <a:t>  ▸  fpga-manager-xlnx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</a:rPr>
              <a:t>  ▸  libxaiengine 2024.2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943600"/>
            <a:ext cx="11338560" cy="548640"/>
          </a:xfrm>
          <a:prstGeom prst="rect">
            <a:avLst/>
          </a:prstGeom>
          <a:solidFill>
            <a:srgbClr val="332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989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C107"/>
                </a:solidFill>
              </a:rPr>
              <a:t>⚠  Ubuntu 24.04 is cutting-edge for Kria — Vitis AI apt packages officially target Ubuntu 22.04 and below.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64008" cy="548640"/>
          </a:xfrm>
          <a:prstGeom prst="rect">
            <a:avLst/>
          </a:prstGeom>
          <a:solidFill>
            <a:srgbClr val="E83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Challenge 1 — Network Discovery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5394960" cy="5120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391D"/>
                </a:solidFill>
              </a:rPr>
              <a:t>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  ▸  Host PC and Kria on different WiFi networks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  ▸  SSH (port 22) disabled by default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  ▸  mDNS kria.local didn't resolve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  ▸  Hostname xsjkria02x not in DNS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  ▸  Port scan: no open TCP ports found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CAF50"/>
                </a:solidFill>
              </a:rPr>
              <a:t>RESOLUTION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CCFFCC"/>
                </a:solidFill>
              </a:rPr>
              <a:t>  ▸  Physical access: opened terminal on board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CCFFCC"/>
                </a:solidFill>
              </a:rPr>
              <a:t>  ▸  Connected both devices to same WiFi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CCFFCC"/>
                </a:solidFill>
              </a:rPr>
              <a:t>  ▸  Board IP confirmed: 192.168.68.60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CCFFCC"/>
                </a:solidFill>
              </a:rPr>
              <a:t>  ▸  TTL=64 on ping → Linux confirmed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394960" cy="2926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80160"/>
            <a:ext cx="51206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EC8E3"/>
                </a:solidFill>
                <a:latin typeface="Cascadia Code"/>
              </a:rPr>
              <a:t># ARP scan on host</a:t>
            </a:r>
          </a:p>
          <a:p>
            <a:r>
              <a:rPr sz="1100">
                <a:solidFill>
                  <a:srgbClr val="7EC8E3"/>
                </a:solidFill>
                <a:latin typeface="Cascadia Code"/>
              </a:rPr>
              <a:t>arp -a</a:t>
            </a:r>
          </a:p>
          <a:p>
            <a:r>
              <a:rPr sz="1100">
                <a:solidFill>
                  <a:srgbClr val="7EC8E3"/>
                </a:solidFill>
                <a:latin typeface="Cascadia Code"/>
              </a:rPr>
              <a:t/>
            </a:r>
          </a:p>
          <a:p>
            <a:r>
              <a:rPr sz="1100">
                <a:solidFill>
                  <a:srgbClr val="7EC8E3"/>
                </a:solidFill>
                <a:latin typeface="Cascadia Code"/>
              </a:rPr>
              <a:t># Wrong subnet initially:</a:t>
            </a:r>
          </a:p>
          <a:p>
            <a:r>
              <a:rPr sz="1100">
                <a:solidFill>
                  <a:srgbClr val="7EC8E3"/>
                </a:solidFill>
                <a:latin typeface="Cascadia Code"/>
              </a:rPr>
              <a:t>192.168.1.116  64-ff-0a-85-f8-d2</a:t>
            </a:r>
          </a:p>
          <a:p>
            <a:r>
              <a:rPr sz="1100">
                <a:solidFill>
                  <a:srgbClr val="7EC8E3"/>
                </a:solidFill>
                <a:latin typeface="Cascadia Code"/>
              </a:rPr>
              <a:t/>
            </a:r>
          </a:p>
          <a:p>
            <a:r>
              <a:rPr sz="1100">
                <a:solidFill>
                  <a:srgbClr val="7EC8E3"/>
                </a:solidFill>
                <a:latin typeface="Cascadia Code"/>
              </a:rPr>
              <a:t># After switching WiFi:</a:t>
            </a:r>
          </a:p>
          <a:p>
            <a:r>
              <a:rPr sz="1100">
                <a:solidFill>
                  <a:srgbClr val="7EC8E3"/>
                </a:solidFill>
                <a:latin typeface="Cascadia Code"/>
              </a:rPr>
              <a:t>ping 192.168.68.60</a:t>
            </a:r>
          </a:p>
          <a:p>
            <a:r>
              <a:rPr sz="1100">
                <a:solidFill>
                  <a:srgbClr val="7EC8E3"/>
                </a:solidFill>
                <a:latin typeface="Cascadia Code"/>
              </a:rPr>
              <a:t>Reply: time=4ms TTL=64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4297680"/>
            <a:ext cx="5394960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389120"/>
            <a:ext cx="51206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EC8E3"/>
                </a:solidFill>
                <a:latin typeface="Cascadia Code"/>
              </a:rPr>
              <a:t># Enable SSH on Kria</a:t>
            </a:r>
          </a:p>
          <a:p>
            <a:r>
              <a:rPr sz="1100">
                <a:solidFill>
                  <a:srgbClr val="7EC8E3"/>
                </a:solidFill>
                <a:latin typeface="Cascadia Code"/>
              </a:rPr>
              <a:t>sudo systemctl enable --now ssh</a:t>
            </a:r>
          </a:p>
          <a:p>
            <a:r>
              <a:rPr sz="1100">
                <a:solidFill>
                  <a:srgbClr val="7EC8E3"/>
                </a:solidFill>
                <a:latin typeface="Cascadia Code"/>
              </a:rPr>
              <a:t>ip addr show  # → 192.168.68.60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64008" cy="548640"/>
          </a:xfrm>
          <a:prstGeom prst="rect">
            <a:avLst/>
          </a:prstGeom>
          <a:solidFill>
            <a:srgbClr val="E83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SSH Key Authentication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5394960" cy="3200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391D"/>
                </a:solidFill>
              </a:rPr>
              <a:t>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  ▸  Enabled SSH on board via physical terminal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  ▸  Generated ED25519 key pair on host PC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  ▸  Copied public key to board's authorized_keys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  ▸  Verified passwordless login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663440"/>
            <a:ext cx="502920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663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CAF50"/>
                </a:solidFill>
              </a:rPr>
              <a:t>✓  No password needed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120640"/>
            <a:ext cx="5029200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CAF50"/>
                </a:solidFill>
              </a:rPr>
              <a:t>✓  Automated iteration enabled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39496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80160"/>
            <a:ext cx="512064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EC8E3"/>
                </a:solidFill>
                <a:latin typeface="Cascadia Code"/>
              </a:rPr>
              <a:t># Kria physical terminal</a:t>
            </a:r>
          </a:p>
          <a:p>
            <a:r>
              <a:rPr sz="1100">
                <a:solidFill>
                  <a:srgbClr val="7EC8E3"/>
                </a:solidFill>
                <a:latin typeface="Cascadia Code"/>
              </a:rPr>
              <a:t>sudo systemctl enable --now ssh</a:t>
            </a:r>
          </a:p>
          <a:p>
            <a:r>
              <a:rPr sz="1100">
                <a:solidFill>
                  <a:srgbClr val="7EC8E3"/>
                </a:solidFill>
                <a:latin typeface="Cascadia Code"/>
              </a:rPr>
              <a:t/>
            </a:r>
          </a:p>
          <a:p>
            <a:r>
              <a:rPr sz="1100">
                <a:solidFill>
                  <a:srgbClr val="7EC8E3"/>
                </a:solidFill>
                <a:latin typeface="Cascadia Code"/>
              </a:rPr>
              <a:t># Host PC (PowerShell)</a:t>
            </a:r>
          </a:p>
          <a:p>
            <a:r>
              <a:rPr sz="1100">
                <a:solidFill>
                  <a:srgbClr val="7EC8E3"/>
                </a:solidFill>
                <a:latin typeface="Cascadia Code"/>
              </a:rPr>
              <a:t>ssh-keygen -t ed25519 -f ~/.ssh/id_ed25519</a:t>
            </a:r>
          </a:p>
          <a:p>
            <a:r>
              <a:rPr sz="1100">
                <a:solidFill>
                  <a:srgbClr val="7EC8E3"/>
                </a:solidFill>
                <a:latin typeface="Cascadia Code"/>
              </a:rPr>
              <a:t/>
            </a:r>
          </a:p>
          <a:p>
            <a:r>
              <a:rPr sz="1100">
                <a:solidFill>
                  <a:srgbClr val="7EC8E3"/>
                </a:solidFill>
                <a:latin typeface="Cascadia Code"/>
              </a:rPr>
              <a:t>type ~/.ssh/id_ed25519.pub | ssh \</a:t>
            </a:r>
          </a:p>
          <a:p>
            <a:r>
              <a:rPr sz="1100">
                <a:solidFill>
                  <a:srgbClr val="7EC8E3"/>
                </a:solidFill>
                <a:latin typeface="Cascadia Code"/>
              </a:rPr>
              <a:t>  ubuntu@192.168.68.60 \</a:t>
            </a:r>
          </a:p>
          <a:p>
            <a:r>
              <a:rPr sz="1100">
                <a:solidFill>
                  <a:srgbClr val="7EC8E3"/>
                </a:solidFill>
                <a:latin typeface="Cascadia Code"/>
              </a:rPr>
              <a:t>  "mkdir -p ~/.ssh &amp;&amp; \</a:t>
            </a:r>
          </a:p>
          <a:p>
            <a:r>
              <a:rPr sz="1100">
                <a:solidFill>
                  <a:srgbClr val="7EC8E3"/>
                </a:solidFill>
                <a:latin typeface="Cascadia Code"/>
              </a:rPr>
              <a:t>   cat &gt;&gt; ~/.ssh/authorized_keys"</a:t>
            </a:r>
          </a:p>
          <a:p>
            <a:r>
              <a:rPr sz="1100">
                <a:solidFill>
                  <a:srgbClr val="7EC8E3"/>
                </a:solidFill>
                <a:latin typeface="Cascadia Code"/>
              </a:rPr>
              <a:t/>
            </a:r>
          </a:p>
          <a:p>
            <a:r>
              <a:rPr sz="1100">
                <a:solidFill>
                  <a:srgbClr val="7EC8E3"/>
                </a:solidFill>
                <a:latin typeface="Cascadia Code"/>
              </a:rPr>
              <a:t># Verify passwordless access</a:t>
            </a:r>
          </a:p>
          <a:p>
            <a:r>
              <a:rPr sz="1100">
                <a:solidFill>
                  <a:srgbClr val="7EC8E3"/>
                </a:solidFill>
                <a:latin typeface="Cascadia Code"/>
              </a:rPr>
              <a:t>ssh ubuntu@192.168.68.60 "echo ok"</a:t>
            </a:r>
          </a:p>
          <a:p>
            <a:r>
              <a:rPr sz="1100">
                <a:solidFill>
                  <a:srgbClr val="7EC8E3"/>
                </a:solidFill>
                <a:latin typeface="Cascadia Code"/>
              </a:rPr>
              <a:t>connected successfully 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64008" cy="548640"/>
          </a:xfrm>
          <a:prstGeom prst="rect">
            <a:avLst/>
          </a:prstGeom>
          <a:solidFill>
            <a:srgbClr val="E83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Software Stack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657600" cy="4937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280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391D"/>
                </a:solidFill>
              </a:rPr>
              <a:t>❌  Vitis AI (apt)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82880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AAAAAA"/>
                </a:solidFill>
              </a:rPr>
              <a:t>  ▸  Not available for Ubuntu 24.04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AAAAAA"/>
                </a:solidFill>
              </a:rPr>
              <a:t>  ▸  Targets Ubuntu 20.04/22.04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AAAAAA"/>
                </a:solidFill>
              </a:rPr>
              <a:t>  ▸  No apt package found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188720"/>
            <a:ext cx="3657600" cy="4937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1280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391D"/>
                </a:solidFill>
              </a:rPr>
              <a:t>❌  PYNQ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82880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AAAAAA"/>
                </a:solidFill>
              </a:rPr>
              <a:t>  ▸  pip install failed on Python 3.12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AAAAAA"/>
                </a:solidFill>
              </a:rPr>
              <a:t>  ▸  Build error on aarch64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AAAAAA"/>
                </a:solidFill>
              </a:rPr>
              <a:t>  ▸  Requires older 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188720"/>
            <a:ext cx="3657600" cy="4937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2801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CAF50"/>
                </a:solidFill>
              </a:rPr>
              <a:t>✅  ONNX Runtime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CCFFCC"/>
                </a:solidFill>
              </a:rPr>
              <a:t>  ▸  Available for aarch64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CCFFCC"/>
                </a:solidFill>
              </a:rPr>
              <a:t>  ▸  Supports Python 3.12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CCFFCC"/>
                </a:solidFill>
              </a:rPr>
              <a:t>  ▸  Runs MobileNet/YOLO/ResNet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CCFFCC"/>
                </a:solidFill>
              </a:rPr>
              <a:t>  ▸  Extensible to DPU 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5943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EC8E3"/>
                </a:solidFill>
              </a:rPr>
              <a:t>Installation:  python3 -m venv ~/vitis-env  &amp;&amp;  pip install onnxruntime numpy pillow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64008" cy="548640"/>
          </a:xfrm>
          <a:prstGeom prst="rect">
            <a:avLst/>
          </a:prstGeom>
          <a:solidFill>
            <a:srgbClr val="E83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CNN Inference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5394960" cy="5120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391D"/>
                </a:solidFill>
              </a:rPr>
              <a:t>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  ▸  MobileNetV2 — ImageNet (1000 classes)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  ▸  Format: ONNX  |  Size: 14 MB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  ▸  Input: 224×224 RGB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  ▸  Source: ONNX Model Zoo (official)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391D"/>
                </a:solidFill>
              </a:rPr>
              <a:t>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  ▸  Load image → resize to 224×224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  ▸  Normalize (ImageNet mean/std)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  ▸  HWC → CHW → add batch dim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  ▸  ONNX Runtime inference session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  ▸  Softmax → Top-5 predictions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394960" cy="53035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80160"/>
            <a:ext cx="512064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EC8E3"/>
                </a:solidFill>
                <a:latin typeface="Cascadia Code"/>
              </a:rPr>
              <a:t>session = ort.InferenceSession(</a:t>
            </a:r>
          </a:p>
          <a:p>
            <a:r>
              <a:rPr sz="1100">
                <a:solidFill>
                  <a:srgbClr val="7EC8E3"/>
                </a:solidFill>
                <a:latin typeface="Cascadia Code"/>
              </a:rPr>
              <a:t>    "mobilenet.onnx",</a:t>
            </a:r>
          </a:p>
          <a:p>
            <a:r>
              <a:rPr sz="1100">
                <a:solidFill>
                  <a:srgbClr val="7EC8E3"/>
                </a:solidFill>
                <a:latin typeface="Cascadia Code"/>
              </a:rPr>
              <a:t>    providers=["CPUExecutionProvider"])</a:t>
            </a:r>
          </a:p>
          <a:p>
            <a:r>
              <a:rPr sz="1100">
                <a:solidFill>
                  <a:srgbClr val="7EC8E3"/>
                </a:solidFill>
                <a:latin typeface="Cascadia Code"/>
              </a:rPr>
              <a:t/>
            </a:r>
          </a:p>
          <a:p>
            <a:r>
              <a:rPr sz="1100">
                <a:solidFill>
                  <a:srgbClr val="7EC8E3"/>
                </a:solidFill>
                <a:latin typeface="Cascadia Code"/>
              </a:rPr>
              <a:t># Preprocess</a:t>
            </a:r>
          </a:p>
          <a:p>
            <a:r>
              <a:rPr sz="1100">
                <a:solidFill>
                  <a:srgbClr val="7EC8E3"/>
                </a:solidFill>
                <a:latin typeface="Cascadia Code"/>
              </a:rPr>
              <a:t>img = Image.open("fish.jpg").resize((224,224))</a:t>
            </a:r>
          </a:p>
          <a:p>
            <a:r>
              <a:rPr sz="1100">
                <a:solidFill>
                  <a:srgbClr val="7EC8E3"/>
                </a:solidFill>
                <a:latin typeface="Cascadia Code"/>
              </a:rPr>
              <a:t>x = np.array(img, dtype=np.float32)</a:t>
            </a:r>
          </a:p>
          <a:p>
            <a:r>
              <a:rPr sz="1100">
                <a:solidFill>
                  <a:srgbClr val="7EC8E3"/>
                </a:solidFill>
                <a:latin typeface="Cascadia Code"/>
              </a:rPr>
              <a:t>x = (x/255.0 - mean) / std</a:t>
            </a:r>
          </a:p>
          <a:p>
            <a:r>
              <a:rPr sz="1100">
                <a:solidFill>
                  <a:srgbClr val="7EC8E3"/>
                </a:solidFill>
                <a:latin typeface="Cascadia Code"/>
              </a:rPr>
              <a:t>x = x.transpose(2,0,1)[None]</a:t>
            </a:r>
          </a:p>
          <a:p>
            <a:r>
              <a:rPr sz="1100">
                <a:solidFill>
                  <a:srgbClr val="7EC8E3"/>
                </a:solidFill>
                <a:latin typeface="Cascadia Code"/>
              </a:rPr>
              <a:t/>
            </a:r>
          </a:p>
          <a:p>
            <a:r>
              <a:rPr sz="1100">
                <a:solidFill>
                  <a:srgbClr val="7EC8E3"/>
                </a:solidFill>
                <a:latin typeface="Cascadia Code"/>
              </a:rPr>
              <a:t># Infer</a:t>
            </a:r>
          </a:p>
          <a:p>
            <a:r>
              <a:rPr sz="1100">
                <a:solidFill>
                  <a:srgbClr val="7EC8E3"/>
                </a:solidFill>
                <a:latin typeface="Cascadia Code"/>
              </a:rPr>
              <a:t>out = session.run(None, {"input": x})</a:t>
            </a:r>
          </a:p>
          <a:p>
            <a:r>
              <a:rPr sz="1100">
                <a:solidFill>
                  <a:srgbClr val="7EC8E3"/>
                </a:solidFill>
                <a:latin typeface="Cascadia Code"/>
              </a:rPr>
              <a:t>top5 = np.argsort(out[0][0])[::-1][:5]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64008" cy="548640"/>
          </a:xfrm>
          <a:prstGeom prst="rect">
            <a:avLst/>
          </a:prstGeom>
          <a:solidFill>
            <a:srgbClr val="E83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Results — MobileNetV2 on Kria KV260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256032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E8391D"/>
                </a:solidFill>
              </a:rPr>
              <a:t>87.5 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INFERENCE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280160"/>
            <a:ext cx="256032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37160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E8391D"/>
                </a:solidFill>
              </a:rPr>
              <a:t>14 MB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10312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MODEL SIZE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280160"/>
            <a:ext cx="256032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59" y="137160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E8391D"/>
                </a:solidFill>
              </a:rPr>
              <a:t>1000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59" y="210312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CLASSES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0" y="1280160"/>
            <a:ext cx="256032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1371600"/>
            <a:ext cx="2377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4CAF50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10312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WORKING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926080"/>
            <a:ext cx="5486400" cy="34747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017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391D"/>
                </a:solidFill>
              </a:rPr>
              <a:t>RUN DETAILS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</a:rP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4290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MobileNetV2-12 (ONNX)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913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</a:rPr>
              <a:t>Runtime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91363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ONNX Runtime 1.26.0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39826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</a:rPr>
              <a:t>Device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39826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ARM Cortex-A53 (CPU)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88289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</a:rPr>
              <a:t>Inference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88289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87.5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36752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</a:rPr>
              <a:t>Top-1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536752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CAF50"/>
                </a:solidFill>
              </a:rPr>
              <a:t>tench  ✓  (score: 17.54)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852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</a:rPr>
              <a:t>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8521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CAF50"/>
                </a:solidFill>
              </a:rPr>
              <a:t>End-to-end working ✓</a:t>
            </a:r>
          </a:p>
        </p:txBody>
      </p:sp>
      <p:pic>
        <p:nvPicPr>
          <p:cNvPr id="30" name="Picture 29" descr="fi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743200"/>
            <a:ext cx="2926080" cy="21945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035040" y="5029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</a:rPr>
              <a:t>Input: tench fish (ImageNet sample)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2743200"/>
            <a:ext cx="2651760" cy="35661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391D"/>
                </a:solidFill>
              </a:rPr>
              <a:t>TOP-5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3246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CAF50"/>
                </a:solidFill>
              </a:rPr>
              <a:t>1. tench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3246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4CAF50"/>
                </a:solidFill>
              </a:rPr>
              <a:t>17.54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3840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2. snoek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3840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11.21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4434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3. coho salmon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44348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10.44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5029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4. bolete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5029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10.28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5623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5. goldfish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0" y="56235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</a:rPr>
              <a:t>9.78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64008" cy="548640"/>
          </a:xfrm>
          <a:prstGeom prst="rect">
            <a:avLst/>
          </a:prstGeom>
          <a:solidFill>
            <a:srgbClr val="E83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11338560" cy="1097280"/>
          </a:xfrm>
          <a:prstGeom prst="rect">
            <a:avLst/>
          </a:prstGeom>
          <a:solidFill>
            <a:srgbClr val="0A2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73152" cy="10972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CAF50"/>
                </a:solidFill>
              </a:rPr>
              <a:t>✅ Phase 1 — Board Bring-up &amp; CPU Inference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4CAF50"/>
                </a:solidFill>
              </a:rPr>
              <a:t>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</a:rPr>
              <a:t>SSH setup · ONNX Runtime · MobileNetV2 · 87.5ms on ARM Cortex-A53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06039"/>
            <a:ext cx="11338560" cy="1097280"/>
          </a:xfrm>
          <a:prstGeom prst="rect">
            <a:avLst/>
          </a:prstGeom>
          <a:solidFill>
            <a:srgbClr val="2A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606039"/>
            <a:ext cx="73152" cy="10972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97479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C107"/>
                </a:solidFill>
              </a:rPr>
              <a:t>⚡ Phase 2 — DPU Acceleration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6974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C107"/>
                </a:solidFill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5467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</a:rPr>
              <a:t>Load DPU overlay via xmutil · ONNX DPU EP · Target: ~5–10ms (8–17× speedup)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11338560" cy="1097280"/>
          </a:xfrm>
          <a:prstGeom prst="rect">
            <a:avLst/>
          </a:prstGeom>
          <a:solidFill>
            <a:srgbClr val="000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73152" cy="10972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023359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96F3"/>
                </a:solidFill>
              </a:rPr>
              <a:t>🎯 Phase 3 — YOLO Object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0233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2196F3"/>
                </a:solidFill>
              </a:rPr>
              <a:t>PLANNED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48055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</a:rPr>
              <a:t>Quantize YOLOv8 INT8 with Vitis AI · Deploy on DPU · Live camera inference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257800"/>
            <a:ext cx="11338560" cy="1097280"/>
          </a:xfrm>
          <a:prstGeom prst="rect">
            <a:avLst/>
          </a:prstGeom>
          <a:solidFill>
            <a:srgbClr val="1A0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5257800"/>
            <a:ext cx="73152" cy="109728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3492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C27B0"/>
                </a:solidFill>
              </a:rPr>
              <a:t>🔬 Phase 4 — Custom HLS CNN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5349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9C27B0"/>
                </a:solidFill>
              </a:rPr>
              <a:t>FUTURE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806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</a:rPr>
              <a:t>hls4ml: Keras → HLS C++ · Custom accelerator with Vitis HLS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64008" cy="548640"/>
          </a:xfrm>
          <a:prstGeom prst="rect">
            <a:avLst/>
          </a:prstGeom>
          <a:solidFill>
            <a:srgbClr val="E83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Learnings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5394960" cy="4389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391D"/>
                </a:solidFill>
              </a:rPr>
              <a:t>TECHNICAL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  ▸  Ubuntu 24.04 on Kria is bleeding-edge — Vitis AI apt packages not yet available for Noble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  ▸  ONNX Runtime is a solid fallback for aarch64 inference without full Vitis AI stack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  ▸  xmutil + dfx-mgr is the correct path for DPU overlay management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  ▸  TTL=64 on ping quickly confirms Linux target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394960" cy="4389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391D"/>
                </a:solidFill>
              </a:rPr>
              <a:t>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  ▸  Always verify host and target on same subnet before debugging SSH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  ▸  SSH key auth essential for automated remote iteration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  ▸  Physical board access saved significant time for initial setup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</a:rPr>
              <a:t>  ▸  Watch disk space — eMMC at 64% before Docker/model installs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669280"/>
            <a:ext cx="1133856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Bottom line: Full CNN inference pipeline working on Kria KV260 in a single session.  Next: DPU acceleration → 87ms → &lt;10ms,  then YOLO.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